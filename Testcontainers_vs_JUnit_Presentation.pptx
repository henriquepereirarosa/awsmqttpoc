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8" r:id="rId10"/>
    <p:sldId id="269" r:id="rId11"/>
    <p:sldId id="27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4632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7350" y="4464028"/>
            <a:ext cx="6858000" cy="1194650"/>
          </a:xfrm>
        </p:spPr>
        <p:txBody>
          <a:bodyPr wrap="none" anchor="t">
            <a:normAutofit/>
          </a:bodyPr>
          <a:lstStyle>
            <a:lvl1pPr algn="r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100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7349" y="3829878"/>
            <a:ext cx="6858000" cy="618523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3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502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40899" y="4464028"/>
            <a:ext cx="6858000" cy="1194650"/>
          </a:xfrm>
        </p:spPr>
        <p:txBody>
          <a:bodyPr wrap="none" anchor="t">
            <a:normAutofit/>
          </a:bodyPr>
          <a:lstStyle>
            <a:lvl1pPr algn="l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40899" y="3829878"/>
            <a:ext cx="6858000" cy="617822"/>
          </a:xfrm>
        </p:spPr>
        <p:txBody>
          <a:bodyPr anchor="b">
            <a:normAutofit/>
          </a:bodyPr>
          <a:lstStyle>
            <a:lvl1pPr marL="0" indent="0" algn="l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976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0000" y="1825625"/>
            <a:ext cx="3768912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9880" y="1825625"/>
            <a:ext cx="377547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73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681163"/>
            <a:ext cx="3768912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000" y="2505075"/>
            <a:ext cx="3768912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9880" y="1681163"/>
            <a:ext cx="3776661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9880" y="2505075"/>
            <a:ext cx="377666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394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579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374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857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169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367161"/>
            <a:ext cx="7886700" cy="81935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9841" y="987426"/>
            <a:ext cx="7886700" cy="337973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5186516"/>
            <a:ext cx="7885509" cy="682472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453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3534344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489399"/>
            <a:ext cx="7885509" cy="150182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2030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365125"/>
            <a:ext cx="6977064" cy="2992904"/>
          </a:xfrm>
        </p:spPr>
        <p:txBody>
          <a:bodyPr anchor="ctr"/>
          <a:lstStyle>
            <a:lvl1pPr>
              <a:defRPr sz="33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8650" y="4501729"/>
            <a:ext cx="7884318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33283" y="786824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8359" y="2743200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5265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326968"/>
            <a:ext cx="7886700" cy="2511835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850581"/>
            <a:ext cx="7885509" cy="1140644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5936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02961" y="1885950"/>
            <a:ext cx="221015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17598" y="2571750"/>
            <a:ext cx="21955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40996" y="1885950"/>
            <a:ext cx="220218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33081" y="2571750"/>
            <a:ext cx="2210096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71777" y="1885950"/>
            <a:ext cx="2199085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71777" y="2571750"/>
            <a:ext cx="2199085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001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99064" y="4297503"/>
            <a:ext cx="2205038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99064" y="2256354"/>
            <a:ext cx="220503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99064" y="4873766"/>
            <a:ext cx="2205038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748" y="4297503"/>
            <a:ext cx="2197894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256354"/>
            <a:ext cx="219789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5733" y="4873765"/>
            <a:ext cx="2200805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53242" y="4297503"/>
            <a:ext cx="219908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53241" y="2256354"/>
            <a:ext cx="219908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53148" y="4873763"/>
            <a:ext cx="2201998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4846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9051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056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825625"/>
            <a:ext cx="767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9421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5800" y="1346178"/>
            <a:ext cx="6858000" cy="1194650"/>
          </a:xfrm>
        </p:spPr>
        <p:txBody>
          <a:bodyPr>
            <a:normAutofit/>
          </a:bodyPr>
          <a:lstStyle/>
          <a:p>
            <a:r>
              <a:rPr sz="5400" dirty="0" err="1"/>
              <a:t>Testcontainers</a:t>
            </a:r>
            <a:r>
              <a:rPr sz="5400" dirty="0"/>
              <a:t> vs JUnit-Only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Why Docker-Based Integration Tests Matter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2912F32-6DCF-FC94-1287-2AB81075E1A5}"/>
              </a:ext>
            </a:extLst>
          </p:cNvPr>
          <p:cNvSpPr txBox="1">
            <a:spLocks/>
          </p:cNvSpPr>
          <p:nvPr/>
        </p:nvSpPr>
        <p:spPr>
          <a:xfrm>
            <a:off x="5438774" y="5737451"/>
            <a:ext cx="4133851" cy="5352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b="0" kern="120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/>
              <a:t>Henrique P. Rosa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Testcontainers?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Testcontainers = Docker-based testing framework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• Java library providing lightweight database instances</a:t>
            </a:r>
          </a:p>
          <a:p>
            <a:pPr>
              <a:defRPr sz="1800">
                <a:latin typeface="Calibri"/>
              </a:defRPr>
            </a:pPr>
            <a:r>
              <a:t>• Automatically starts Docker containers for tests</a:t>
            </a:r>
          </a:p>
          <a:p>
            <a:pPr>
              <a:defRPr sz="1800">
                <a:latin typeface="Calibri"/>
              </a:defRPr>
            </a:pPr>
            <a:r>
              <a:t>• Provides real database instances (PostgreSQL, MySQL, etc.)</a:t>
            </a:r>
          </a:p>
          <a:p>
            <a:pPr>
              <a:defRPr sz="1800">
                <a:latin typeface="Calibri"/>
              </a:defRPr>
            </a:pPr>
            <a:r>
              <a:t>• Cleans up containers after tests complete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Popular databases supported:</a:t>
            </a:r>
          </a:p>
          <a:p>
            <a:pPr>
              <a:defRPr sz="1800">
                <a:latin typeface="Calibri"/>
              </a:defRPr>
            </a:pPr>
            <a:r>
              <a:t>• PostgreSQL, MySQL, MariaDB</a:t>
            </a:r>
          </a:p>
          <a:p>
            <a:pPr>
              <a:defRPr sz="1800">
                <a:latin typeface="Calibri"/>
              </a:defRPr>
            </a:pPr>
            <a:r>
              <a:t>• MongoDB, Cassandra, Redis, Kafka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Testcontainers Approach (Real DB)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latin typeface="Calibri"/>
              </a:defRPr>
            </a:pPr>
            <a:r>
              <a:t>✅ Real database in Docker</a:t>
            </a:r>
          </a:p>
          <a:p>
            <a:pPr>
              <a:defRPr sz="1600" b="1">
                <a:latin typeface="Calibri"/>
              </a:defRPr>
            </a:pPr>
            <a:r>
              <a:t>✅ Real SQL execution</a:t>
            </a:r>
          </a:p>
          <a:p>
            <a:pPr>
              <a:defRPr sz="1600" b="1">
                <a:latin typeface="Calibri"/>
              </a:defRPr>
            </a:pPr>
            <a:r>
              <a:t>✅ Real transaction management</a:t>
            </a:r>
          </a:p>
          <a:p>
            <a:pPr>
              <a:defRPr sz="1600" b="1">
                <a:latin typeface="Calibri"/>
              </a:defRPr>
            </a:pPr>
            <a:r>
              <a:t>✅ Real constraints enforced</a:t>
            </a:r>
          </a:p>
          <a:p>
            <a:pPr>
              <a:defRPr sz="1600">
                <a:latin typeface="Calibri"/>
              </a:defRPr>
            </a:pPr>
            <a:endParaRPr/>
          </a:p>
          <a:p>
            <a:pPr>
              <a:defRPr sz="1600">
                <a:latin typeface="Calibri"/>
              </a:defRPr>
            </a:pPr>
            <a:r>
              <a:t>Benefits:</a:t>
            </a:r>
          </a:p>
          <a:p>
            <a:pPr>
              <a:defRPr sz="1600">
                <a:latin typeface="Calibri"/>
              </a:defRPr>
            </a:pPr>
            <a:r>
              <a:t>• Business rules validated</a:t>
            </a:r>
          </a:p>
          <a:p>
            <a:pPr>
              <a:defRPr sz="1600">
                <a:latin typeface="Calibri"/>
              </a:defRPr>
            </a:pPr>
            <a:r>
              <a:t>• Real SQL tested</a:t>
            </a:r>
          </a:p>
          <a:p>
            <a:pPr>
              <a:defRPr sz="1600">
                <a:latin typeface="Calibri"/>
              </a:defRPr>
            </a:pPr>
            <a:r>
              <a:t>• Performance measured</a:t>
            </a:r>
          </a:p>
          <a:p>
            <a:pPr>
              <a:defRPr sz="1600">
                <a:latin typeface="Calibri"/>
              </a:defRPr>
            </a:pPr>
            <a:r>
              <a:t>• Cross-DB compatibility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41148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Calibri"/>
              </a:defRPr>
            </a:pPr>
            <a:r>
              <a:rPr dirty="0"/>
              <a:t>Example:</a:t>
            </a:r>
          </a:p>
          <a:p>
            <a:pPr>
              <a:defRPr sz="1600">
                <a:latin typeface="Calibri"/>
              </a:defRPr>
            </a:pPr>
            <a:endParaRPr dirty="0"/>
          </a:p>
          <a:p>
            <a:pPr>
              <a:defRPr sz="1600">
                <a:latin typeface="Calibri"/>
              </a:defRPr>
            </a:pPr>
            <a:r>
              <a:rPr dirty="0"/>
              <a:t>@SpringBootTest</a:t>
            </a:r>
          </a:p>
          <a:p>
            <a:pPr>
              <a:defRPr sz="1600">
                <a:latin typeface="Calibri"/>
              </a:defRPr>
            </a:pPr>
            <a:r>
              <a:rPr dirty="0"/>
              <a:t>@ContextConfiguration(</a:t>
            </a:r>
          </a:p>
          <a:p>
            <a:pPr>
              <a:defRPr sz="1600">
                <a:latin typeface="Calibri"/>
              </a:defRPr>
            </a:pPr>
            <a:r>
              <a:rPr dirty="0"/>
              <a:t>  initializers = </a:t>
            </a:r>
          </a:p>
          <a:p>
            <a:pPr>
              <a:defRPr sz="1600">
                <a:latin typeface="Calibri"/>
              </a:defRPr>
            </a:pPr>
            <a:r>
              <a:rPr dirty="0"/>
              <a:t>    </a:t>
            </a:r>
            <a:r>
              <a:rPr dirty="0" err="1"/>
              <a:t>PostgresTestcontainers</a:t>
            </a:r>
            <a:endParaRPr dirty="0"/>
          </a:p>
          <a:p>
            <a:pPr>
              <a:defRPr sz="1600">
                <a:latin typeface="Calibri"/>
              </a:defRPr>
            </a:pPr>
            <a:r>
              <a:rPr dirty="0"/>
              <a:t>      .</a:t>
            </a:r>
            <a:r>
              <a:rPr dirty="0" err="1"/>
              <a:t>Initializer.class</a:t>
            </a:r>
            <a:r>
              <a:rPr dirty="0"/>
              <a:t>)</a:t>
            </a:r>
          </a:p>
          <a:p>
            <a:pPr>
              <a:defRPr sz="1600">
                <a:latin typeface="Calibri"/>
              </a:defRPr>
            </a:pPr>
            <a:endParaRPr dirty="0"/>
          </a:p>
          <a:p>
            <a:pPr>
              <a:defRPr sz="1600">
                <a:latin typeface="Calibri"/>
              </a:defRPr>
            </a:pPr>
            <a:r>
              <a:rPr lang="en-GB" dirty="0"/>
              <a:t>✅</a:t>
            </a:r>
            <a:r>
              <a:rPr dirty="0"/>
              <a:t> Tests:</a:t>
            </a:r>
          </a:p>
          <a:p>
            <a:pPr>
              <a:defRPr sz="1600">
                <a:latin typeface="Calibri"/>
              </a:defRPr>
            </a:pPr>
            <a:r>
              <a:rPr lang="en-GB" dirty="0"/>
              <a:t> </a:t>
            </a:r>
            <a:r>
              <a:rPr dirty="0"/>
              <a:t>- Real SQL</a:t>
            </a:r>
          </a:p>
          <a:p>
            <a:pPr>
              <a:defRPr sz="1600">
                <a:latin typeface="Calibri"/>
              </a:defRPr>
            </a:pPr>
            <a:r>
              <a:rPr dirty="0"/>
              <a:t> - Constraints</a:t>
            </a:r>
          </a:p>
          <a:p>
            <a:pPr>
              <a:defRPr sz="1600">
                <a:latin typeface="Calibri"/>
              </a:defRPr>
            </a:pPr>
            <a:r>
              <a:rPr dirty="0"/>
              <a:t> - Transactions</a:t>
            </a:r>
          </a:p>
          <a:p>
            <a:pPr>
              <a:defRPr sz="1600">
                <a:latin typeface="Calibri"/>
              </a:defRPr>
            </a:pPr>
            <a:r>
              <a:rPr dirty="0"/>
              <a:t> -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Advantages of Testcontainers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numCol="2">
            <a:normAutofit/>
          </a:bodyPr>
          <a:lstStyle/>
          <a:p>
            <a:pPr>
              <a:defRPr sz="1800">
                <a:latin typeface="Calibri"/>
              </a:defRPr>
            </a:pPr>
            <a:r>
              <a:rPr dirty="0"/>
              <a:t>1. Real Database Behavior 🎯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Foreign key constraints enforced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Unique constraints work correctly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Transaction rollback behaves correctly</a:t>
            </a:r>
          </a:p>
          <a:p>
            <a:pPr>
              <a:defRPr sz="1800">
                <a:latin typeface="Calibri"/>
              </a:defRPr>
            </a:pPr>
            <a:endParaRPr dirty="0"/>
          </a:p>
          <a:p>
            <a:pPr>
              <a:defRPr sz="1800">
                <a:latin typeface="Calibri"/>
              </a:defRPr>
            </a:pPr>
            <a:r>
              <a:rPr dirty="0"/>
              <a:t>2. Business Rules Validation 💼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Database constraints catch real bugs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Production issues caught in tests</a:t>
            </a:r>
          </a:p>
          <a:p>
            <a:pPr>
              <a:defRPr sz="1800">
                <a:latin typeface="Calibri"/>
              </a:defRPr>
            </a:pPr>
            <a:endParaRPr dirty="0"/>
          </a:p>
          <a:p>
            <a:pPr>
              <a:defRPr sz="1800">
                <a:latin typeface="Calibri"/>
              </a:defRPr>
            </a:pPr>
            <a:r>
              <a:rPr dirty="0"/>
              <a:t>3. Performance Insights ⚡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Slow queries detected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N+1 problems caught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Index usage validated</a:t>
            </a:r>
          </a:p>
          <a:p>
            <a:pPr>
              <a:defRPr sz="1800">
                <a:latin typeface="Calibri"/>
              </a:defRPr>
            </a:pPr>
            <a:endParaRPr dirty="0"/>
          </a:p>
          <a:p>
            <a:pPr>
              <a:defRPr sz="1800">
                <a:latin typeface="Calibri"/>
              </a:defRPr>
            </a:pPr>
            <a:r>
              <a:rPr dirty="0"/>
              <a:t>4. SQL Compatibility 🔄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Database-specific SQL validated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Migration scripts tested</a:t>
            </a:r>
          </a:p>
          <a:p>
            <a:pPr>
              <a:defRPr sz="1800">
                <a:latin typeface="Calibri"/>
              </a:defRPr>
            </a:pPr>
            <a:endParaRPr dirty="0"/>
          </a:p>
          <a:p>
            <a:pPr>
              <a:defRPr sz="1800">
                <a:latin typeface="Calibri"/>
              </a:defRPr>
            </a:pPr>
            <a:r>
              <a:rPr dirty="0"/>
              <a:t>5. Simplified Setup 🚀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No manual database setup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Works in CI/CD automatically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When to Use Each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latin typeface="Calibri"/>
              </a:defRPr>
            </a:pPr>
            <a:r>
              <a:t>✅ Use Unit Tests When:</a:t>
            </a:r>
          </a:p>
          <a:p>
            <a:pPr>
              <a:defRPr sz="1600">
                <a:latin typeface="Calibri"/>
              </a:defRPr>
            </a:pPr>
            <a:endParaRPr/>
          </a:p>
          <a:p>
            <a:pPr>
              <a:defRPr sz="1600">
                <a:latin typeface="Calibri"/>
              </a:defRPr>
            </a:pPr>
            <a:r>
              <a:t>• Pure business logic</a:t>
            </a:r>
          </a:p>
          <a:p>
            <a:pPr>
              <a:defRPr sz="1600">
                <a:latin typeface="Calibri"/>
              </a:defRPr>
            </a:pPr>
            <a:r>
              <a:t>  (no database)</a:t>
            </a:r>
          </a:p>
          <a:p>
            <a:pPr>
              <a:defRPr sz="1600">
                <a:latin typeface="Calibri"/>
              </a:defRPr>
            </a:pPr>
            <a:r>
              <a:t>• Fast feedback loop</a:t>
            </a:r>
          </a:p>
          <a:p>
            <a:pPr>
              <a:defRPr sz="1600">
                <a:latin typeface="Calibri"/>
              </a:defRPr>
            </a:pPr>
            <a:r>
              <a:t>• Testing edge cases</a:t>
            </a:r>
          </a:p>
          <a:p>
            <a:pPr>
              <a:defRPr sz="1600">
                <a:latin typeface="Calibri"/>
              </a:defRPr>
            </a:pPr>
            <a:r>
              <a:t>• Validation rules</a:t>
            </a:r>
          </a:p>
          <a:p>
            <a:pPr>
              <a:defRPr sz="1600">
                <a:latin typeface="Calibri"/>
              </a:defRPr>
            </a:pPr>
            <a:endParaRPr/>
          </a:p>
          <a:p>
            <a:pPr>
              <a:defRPr sz="1600">
                <a:latin typeface="Calibri"/>
              </a:defRPr>
            </a:pPr>
            <a:r>
              <a:t>Example:</a:t>
            </a:r>
          </a:p>
          <a:p>
            <a:pPr>
              <a:defRPr sz="1600">
                <a:latin typeface="Calibri"/>
              </a:defRPr>
            </a:pPr>
            <a:r>
              <a:t>calculatePrice()</a:t>
            </a:r>
          </a:p>
          <a:p>
            <a:pPr>
              <a:defRPr sz="1600">
                <a:latin typeface="Calibri"/>
              </a:defRPr>
            </a:pPr>
            <a:r>
              <a:t>validateEmail()</a:t>
            </a:r>
          </a:p>
          <a:p>
            <a:pPr>
              <a:defRPr sz="1600">
                <a:latin typeface="Calibri"/>
              </a:defRPr>
            </a:pPr>
            <a:r>
              <a:t>formatMoney()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latin typeface="Calibri"/>
              </a:defRPr>
            </a:pPr>
            <a:r>
              <a:t>✅ Use Integration Tests</a:t>
            </a:r>
          </a:p>
          <a:p>
            <a:pPr>
              <a:defRPr sz="1600">
                <a:latin typeface="Calibri"/>
              </a:defRPr>
            </a:pPr>
            <a:r>
              <a:t>  (Testcontainers) When:</a:t>
            </a:r>
          </a:p>
          <a:p>
            <a:pPr>
              <a:defRPr sz="1600">
                <a:latin typeface="Calibri"/>
              </a:defRPr>
            </a:pPr>
            <a:endParaRPr/>
          </a:p>
          <a:p>
            <a:pPr>
              <a:defRPr sz="1600">
                <a:latin typeface="Calibri"/>
              </a:defRPr>
            </a:pPr>
            <a:r>
              <a:t>• Database-dependent</a:t>
            </a:r>
          </a:p>
          <a:p>
            <a:pPr>
              <a:defRPr sz="1600">
                <a:latin typeface="Calibri"/>
              </a:defRPr>
            </a:pPr>
            <a:r>
              <a:t>• Business rules in DB</a:t>
            </a:r>
          </a:p>
          <a:p>
            <a:pPr>
              <a:defRPr sz="1600">
                <a:latin typeface="Calibri"/>
              </a:defRPr>
            </a:pPr>
            <a:r>
              <a:t>• Transaction management</a:t>
            </a:r>
          </a:p>
          <a:p>
            <a:pPr>
              <a:defRPr sz="1600">
                <a:latin typeface="Calibri"/>
              </a:defRPr>
            </a:pPr>
            <a:r>
              <a:t>• Performance queries</a:t>
            </a:r>
          </a:p>
          <a:p>
            <a:pPr>
              <a:defRPr sz="1600">
                <a:latin typeface="Calibri"/>
              </a:defRPr>
            </a:pPr>
            <a:r>
              <a:t>• Real-world scenarios</a:t>
            </a:r>
          </a:p>
          <a:p>
            <a:pPr>
              <a:defRPr sz="1600">
                <a:latin typeface="Calibri"/>
              </a:defRPr>
            </a:pPr>
            <a:endParaRPr/>
          </a:p>
          <a:p>
            <a:pPr>
              <a:defRPr sz="1600">
                <a:latin typeface="Calibri"/>
              </a:defRPr>
            </a:pPr>
            <a:r>
              <a:t>Example:</a:t>
            </a:r>
          </a:p>
          <a:p>
            <a:pPr>
              <a:defRPr sz="1600">
                <a:latin typeface="Calibri"/>
              </a:defRPr>
            </a:pPr>
            <a:r>
              <a:t>createOrder()</a:t>
            </a:r>
          </a:p>
          <a:p>
            <a:pPr>
              <a:defRPr sz="1600">
                <a:latin typeface="Calibri"/>
              </a:defRPr>
            </a:pPr>
            <a:r>
              <a:t>processPayment()</a:t>
            </a:r>
          </a:p>
          <a:p>
            <a:pPr>
              <a:defRPr sz="1600">
                <a:latin typeface="Calibri"/>
              </a:defRPr>
            </a:pPr>
            <a:r>
              <a:t>validateConstraints()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Database: The Most Critical 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numCol="2">
            <a:normAutofit lnSpcReduction="10000"/>
          </a:bodyPr>
          <a:lstStyle/>
          <a:p>
            <a:pPr>
              <a:defRPr sz="1800">
                <a:latin typeface="Calibri"/>
              </a:defRPr>
            </a:pPr>
            <a:r>
              <a:rPr dirty="0"/>
              <a:t>Why Database Should NOT Be Mocked:</a:t>
            </a:r>
          </a:p>
          <a:p>
            <a:pPr>
              <a:defRPr sz="1800">
                <a:latin typeface="Calibri"/>
              </a:defRPr>
            </a:pPr>
            <a:endParaRPr dirty="0"/>
          </a:p>
          <a:p>
            <a:pPr>
              <a:defRPr sz="1800">
                <a:latin typeface="Calibri"/>
              </a:defRPr>
            </a:pPr>
            <a:r>
              <a:rPr dirty="0"/>
              <a:t>1. Business Rules Live in Database 🏛️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Constraints enforce business rules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Mocked tests pass (even if broken!)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</a:t>
            </a:r>
            <a:r>
              <a:rPr dirty="0" err="1"/>
              <a:t>Testcontainers</a:t>
            </a:r>
            <a:r>
              <a:rPr dirty="0"/>
              <a:t> catch real violations</a:t>
            </a:r>
          </a:p>
          <a:p>
            <a:pPr>
              <a:defRPr sz="1800">
                <a:latin typeface="Calibri"/>
              </a:defRPr>
            </a:pPr>
            <a:endParaRPr dirty="0"/>
          </a:p>
          <a:p>
            <a:pPr>
              <a:defRPr sz="1800">
                <a:latin typeface="Calibri"/>
              </a:defRPr>
            </a:pPr>
            <a:r>
              <a:rPr dirty="0"/>
              <a:t>2. Performance is Database-Driven ⚡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Slow queries detected in tests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Mocked tests can't measure this</a:t>
            </a:r>
          </a:p>
          <a:p>
            <a:pPr>
              <a:defRPr sz="1800">
                <a:latin typeface="Calibri"/>
              </a:defRPr>
            </a:pPr>
            <a:endParaRPr dirty="0"/>
          </a:p>
          <a:p>
            <a:pPr>
              <a:defRPr sz="1800">
                <a:latin typeface="Calibri"/>
              </a:defRPr>
            </a:pPr>
            <a:r>
              <a:rPr dirty="0"/>
              <a:t>3. Data Integrity = Business Integrity 🔒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Foreign keys prevent orphaned records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Unique constraints prevent duplicates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Mocked: Pass ✅ | Production: Fail ❌</a:t>
            </a:r>
          </a:p>
          <a:p>
            <a:pPr>
              <a:defRPr sz="1800">
                <a:latin typeface="Calibri"/>
              </a:defRPr>
            </a:pPr>
            <a:endParaRPr dirty="0"/>
          </a:p>
          <a:p>
            <a:pPr>
              <a:defRPr sz="1800">
                <a:latin typeface="Calibri"/>
              </a:defRPr>
            </a:pPr>
            <a:r>
              <a:rPr dirty="0"/>
              <a:t>4. Transaction Behavior 💳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Real rollback on error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Deadlock detection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Isolation level validation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Real Example: Order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latin typeface="Calibri"/>
              </a:defRPr>
            </a:pPr>
            <a:r>
              <a:rPr dirty="0"/>
              <a:t>❌ Mocked Test:</a:t>
            </a:r>
          </a:p>
          <a:p>
            <a:pPr>
              <a:defRPr sz="1600">
                <a:latin typeface="Calibri"/>
              </a:defRPr>
            </a:pPr>
            <a:endParaRPr dirty="0"/>
          </a:p>
          <a:p>
            <a:pPr>
              <a:defRPr sz="1600">
                <a:latin typeface="Calibri"/>
              </a:defRPr>
            </a:pPr>
            <a:r>
              <a:rPr dirty="0"/>
              <a:t>when(</a:t>
            </a:r>
            <a:r>
              <a:rPr dirty="0" err="1"/>
              <a:t>repo.save</a:t>
            </a:r>
            <a:r>
              <a:rPr dirty="0"/>
              <a:t>(order))</a:t>
            </a:r>
          </a:p>
          <a:p>
            <a:pPr>
              <a:defRPr sz="1600">
                <a:latin typeface="Calibri"/>
              </a:defRPr>
            </a:pPr>
            <a:r>
              <a:rPr dirty="0"/>
              <a:t>  .</a:t>
            </a:r>
            <a:r>
              <a:rPr dirty="0" err="1"/>
              <a:t>thenReturn</a:t>
            </a:r>
            <a:r>
              <a:rPr dirty="0"/>
              <a:t>(order);</a:t>
            </a:r>
          </a:p>
          <a:p>
            <a:pPr>
              <a:defRPr sz="1600">
                <a:latin typeface="Calibri"/>
              </a:defRPr>
            </a:pPr>
            <a:endParaRPr dirty="0"/>
          </a:p>
          <a:p>
            <a:pPr>
              <a:defRPr sz="1600">
                <a:latin typeface="Calibri"/>
              </a:defRPr>
            </a:pPr>
            <a:r>
              <a:rPr dirty="0"/>
              <a:t>Order result = </a:t>
            </a:r>
          </a:p>
          <a:p>
            <a:pPr>
              <a:defRPr sz="1600">
                <a:latin typeface="Calibri"/>
              </a:defRPr>
            </a:pPr>
            <a:r>
              <a:rPr dirty="0"/>
              <a:t>  </a:t>
            </a:r>
            <a:r>
              <a:rPr dirty="0" err="1"/>
              <a:t>service.createOrder</a:t>
            </a:r>
            <a:r>
              <a:rPr dirty="0"/>
              <a:t>(order);</a:t>
            </a:r>
          </a:p>
          <a:p>
            <a:pPr>
              <a:defRPr sz="1600">
                <a:latin typeface="Calibri"/>
              </a:defRPr>
            </a:pPr>
            <a:endParaRPr dirty="0"/>
          </a:p>
          <a:p>
            <a:pPr>
              <a:defRPr sz="1600">
                <a:latin typeface="Calibri"/>
              </a:defRPr>
            </a:pPr>
            <a:r>
              <a:rPr dirty="0"/>
              <a:t> ✅ Test passes, but:</a:t>
            </a:r>
          </a:p>
          <a:p>
            <a:pPr>
              <a:defRPr sz="1600">
                <a:latin typeface="Calibri"/>
              </a:defRPr>
            </a:pPr>
            <a:r>
              <a:rPr dirty="0"/>
              <a:t> - What if FK broken?</a:t>
            </a:r>
          </a:p>
          <a:p>
            <a:pPr>
              <a:defRPr sz="1600">
                <a:latin typeface="Calibri"/>
              </a:defRPr>
            </a:pPr>
            <a:r>
              <a:rPr dirty="0"/>
              <a:t> - What if rollback fails?</a:t>
            </a:r>
          </a:p>
          <a:p>
            <a:pPr>
              <a:defRPr sz="1600">
                <a:latin typeface="Calibri"/>
              </a:defRPr>
            </a:pPr>
            <a:r>
              <a:rPr dirty="0"/>
              <a:t> - What if unique fails?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1850" y="1365250"/>
            <a:ext cx="41148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latin typeface="Calibri"/>
              </a:defRPr>
            </a:pPr>
            <a:r>
              <a:rPr dirty="0"/>
              <a:t>✅ </a:t>
            </a:r>
            <a:r>
              <a:rPr dirty="0" err="1"/>
              <a:t>Testcontainers</a:t>
            </a:r>
            <a:r>
              <a:rPr dirty="0"/>
              <a:t> Test:</a:t>
            </a:r>
          </a:p>
          <a:p>
            <a:pPr>
              <a:defRPr sz="1600">
                <a:latin typeface="Calibri"/>
              </a:defRPr>
            </a:pPr>
            <a:endParaRPr dirty="0"/>
          </a:p>
          <a:p>
            <a:pPr>
              <a:defRPr sz="1600">
                <a:latin typeface="Calibri"/>
              </a:defRPr>
            </a:pPr>
            <a:r>
              <a:rPr dirty="0"/>
              <a:t>@SpringBootTest</a:t>
            </a:r>
          </a:p>
          <a:p>
            <a:pPr>
              <a:defRPr sz="1600">
                <a:latin typeface="Calibri"/>
              </a:defRPr>
            </a:pPr>
            <a:r>
              <a:rPr dirty="0"/>
              <a:t>@ContextConfiguration(</a:t>
            </a:r>
          </a:p>
          <a:p>
            <a:pPr>
              <a:defRPr sz="1600">
                <a:latin typeface="Calibri"/>
              </a:defRPr>
            </a:pPr>
            <a:r>
              <a:rPr dirty="0"/>
              <a:t>  initializers = </a:t>
            </a:r>
          </a:p>
          <a:p>
            <a:pPr>
              <a:defRPr sz="1600">
                <a:latin typeface="Calibri"/>
              </a:defRPr>
            </a:pPr>
            <a:r>
              <a:rPr dirty="0"/>
              <a:t>    </a:t>
            </a:r>
            <a:r>
              <a:rPr dirty="0" err="1"/>
              <a:t>PostgresTestcontainers</a:t>
            </a:r>
            <a:endParaRPr dirty="0"/>
          </a:p>
          <a:p>
            <a:pPr>
              <a:defRPr sz="1600">
                <a:latin typeface="Calibri"/>
              </a:defRPr>
            </a:pPr>
            <a:r>
              <a:rPr dirty="0"/>
              <a:t>      .</a:t>
            </a:r>
            <a:r>
              <a:rPr dirty="0" err="1"/>
              <a:t>Initializer.class</a:t>
            </a:r>
            <a:r>
              <a:rPr dirty="0"/>
              <a:t>)</a:t>
            </a:r>
          </a:p>
          <a:p>
            <a:pPr>
              <a:defRPr sz="1600">
                <a:latin typeface="Calibri"/>
              </a:defRPr>
            </a:pPr>
            <a:endParaRPr dirty="0"/>
          </a:p>
          <a:p>
            <a:pPr>
              <a:defRPr sz="1600">
                <a:latin typeface="Calibri"/>
              </a:defRPr>
            </a:pPr>
            <a:r>
              <a:rPr dirty="0"/>
              <a:t>Order result = </a:t>
            </a:r>
          </a:p>
          <a:p>
            <a:pPr>
              <a:defRPr sz="1600">
                <a:latin typeface="Calibri"/>
              </a:defRPr>
            </a:pPr>
            <a:r>
              <a:rPr dirty="0"/>
              <a:t>  </a:t>
            </a:r>
            <a:r>
              <a:rPr dirty="0" err="1"/>
              <a:t>service.createOrder</a:t>
            </a:r>
            <a:r>
              <a:rPr dirty="0"/>
              <a:t>(order);</a:t>
            </a:r>
          </a:p>
          <a:p>
            <a:pPr>
              <a:defRPr sz="1600">
                <a:latin typeface="Calibri"/>
              </a:defRPr>
            </a:pPr>
            <a:endParaRPr dirty="0"/>
          </a:p>
          <a:p>
            <a:pPr>
              <a:defRPr sz="1600">
                <a:latin typeface="Calibri"/>
              </a:defRPr>
            </a:pPr>
            <a:r>
              <a:rPr dirty="0"/>
              <a:t>✅ Tests:</a:t>
            </a:r>
          </a:p>
          <a:p>
            <a:pPr>
              <a:defRPr sz="1600">
                <a:latin typeface="Calibri"/>
              </a:defRPr>
            </a:pPr>
            <a:r>
              <a:rPr dirty="0"/>
              <a:t> - Real SQL</a:t>
            </a:r>
          </a:p>
          <a:p>
            <a:pPr>
              <a:defRPr sz="1600">
                <a:latin typeface="Calibri"/>
              </a:defRPr>
            </a:pPr>
            <a:r>
              <a:rPr dirty="0"/>
              <a:t> - Constraints</a:t>
            </a:r>
          </a:p>
          <a:p>
            <a:pPr>
              <a:defRPr sz="1600">
                <a:latin typeface="Calibri"/>
              </a:defRPr>
            </a:pPr>
            <a:r>
              <a:rPr dirty="0"/>
              <a:t> - Transactions</a:t>
            </a:r>
          </a:p>
          <a:p>
            <a:pPr>
              <a:defRPr sz="1600">
                <a:latin typeface="Calibri"/>
              </a:defRPr>
            </a:pPr>
            <a:r>
              <a:rPr dirty="0"/>
              <a:t> - 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70000" lnSpcReduction="20000"/>
          </a:bodyPr>
          <a:lstStyle/>
          <a:p>
            <a:pPr>
              <a:defRPr sz="1800">
                <a:latin typeface="Calibri"/>
              </a:defRPr>
            </a:pPr>
            <a:r>
              <a:rPr dirty="0"/>
              <a:t>Execution Time:</a:t>
            </a:r>
          </a:p>
          <a:p>
            <a:pPr>
              <a:defRPr sz="1800">
                <a:latin typeface="Calibri"/>
              </a:defRPr>
            </a:pPr>
            <a:endParaRPr dirty="0"/>
          </a:p>
          <a:p>
            <a:pPr>
              <a:defRPr sz="1800">
                <a:latin typeface="Calibri"/>
              </a:defRPr>
            </a:pPr>
            <a:r>
              <a:rPr dirty="0"/>
              <a:t>Mocked Tests:</a:t>
            </a:r>
          </a:p>
          <a:p>
            <a:pPr>
              <a:defRPr sz="1800">
                <a:latin typeface="Calibri"/>
              </a:defRPr>
            </a:pPr>
            <a:r>
              <a:rPr dirty="0"/>
              <a:t>  • Setup: 0ms</a:t>
            </a:r>
          </a:p>
          <a:p>
            <a:pPr>
              <a:defRPr sz="1800">
                <a:latin typeface="Calibri"/>
              </a:defRPr>
            </a:pPr>
            <a:r>
              <a:rPr dirty="0"/>
              <a:t>  • Execution: 50-200ms</a:t>
            </a:r>
          </a:p>
          <a:p>
            <a:pPr>
              <a:defRPr sz="1800">
                <a:latin typeface="Calibri"/>
              </a:defRPr>
            </a:pPr>
            <a:r>
              <a:rPr dirty="0"/>
              <a:t>  • Total: Fast ⚡</a:t>
            </a:r>
          </a:p>
          <a:p>
            <a:pPr>
              <a:defRPr sz="1800">
                <a:latin typeface="Calibri"/>
              </a:defRPr>
            </a:pPr>
            <a:endParaRPr dirty="0"/>
          </a:p>
          <a:p>
            <a:pPr>
              <a:defRPr sz="1800">
                <a:latin typeface="Calibri"/>
              </a:defRPr>
            </a:pPr>
            <a:r>
              <a:rPr dirty="0" err="1"/>
              <a:t>Testcontainers</a:t>
            </a:r>
            <a:r>
              <a:rPr dirty="0"/>
              <a:t>:</a:t>
            </a:r>
          </a:p>
          <a:p>
            <a:pPr>
              <a:defRPr sz="1800">
                <a:latin typeface="Calibri"/>
              </a:defRPr>
            </a:pPr>
            <a:r>
              <a:rPr dirty="0"/>
              <a:t>  • Setup: 2-5s (first time)</a:t>
            </a:r>
          </a:p>
          <a:p>
            <a:pPr>
              <a:defRPr sz="1800">
                <a:latin typeface="Calibri"/>
              </a:defRPr>
            </a:pPr>
            <a:r>
              <a:rPr dirty="0"/>
              <a:t>  • Setup: 0-500ms (reused)</a:t>
            </a:r>
          </a:p>
          <a:p>
            <a:pPr>
              <a:defRPr sz="1800">
                <a:latin typeface="Calibri"/>
              </a:defRPr>
            </a:pPr>
            <a:r>
              <a:rPr dirty="0"/>
              <a:t>  • Execution: 1-3s</a:t>
            </a:r>
          </a:p>
          <a:p>
            <a:pPr>
              <a:defRPr sz="1800">
                <a:latin typeface="Calibri"/>
              </a:defRPr>
            </a:pPr>
            <a:r>
              <a:rPr dirty="0"/>
              <a:t>  • Total: Acceptable ✅</a:t>
            </a:r>
          </a:p>
          <a:p>
            <a:pPr>
              <a:defRPr sz="1800">
                <a:latin typeface="Calibri"/>
              </a:defRPr>
            </a:pPr>
            <a:endParaRPr dirty="0"/>
          </a:p>
          <a:p>
            <a:pPr>
              <a:defRPr sz="1800">
                <a:latin typeface="Calibri"/>
              </a:defRPr>
            </a:pPr>
            <a:r>
              <a:rPr dirty="0"/>
              <a:t>Trade-offs:</a:t>
            </a:r>
          </a:p>
          <a:p>
            <a:pPr>
              <a:defRPr sz="1800">
                <a:latin typeface="Calibri"/>
              </a:defRPr>
            </a:pPr>
            <a:r>
              <a:rPr dirty="0"/>
              <a:t>  • Mocked: Fast but </a:t>
            </a:r>
            <a:r>
              <a:rPr dirty="0">
                <a:solidFill>
                  <a:srgbClr val="FF0000"/>
                </a:solidFill>
              </a:rPr>
              <a:t>false confidence</a:t>
            </a:r>
          </a:p>
          <a:p>
            <a:pPr>
              <a:defRPr sz="1800">
                <a:latin typeface="Calibri"/>
              </a:defRPr>
            </a:pPr>
            <a:r>
              <a:rPr dirty="0"/>
              <a:t>  • </a:t>
            </a:r>
            <a:r>
              <a:rPr dirty="0" err="1"/>
              <a:t>Testcontainers</a:t>
            </a:r>
            <a:r>
              <a:rPr dirty="0"/>
              <a:t>: Slightly slower but catches real bugs</a:t>
            </a:r>
          </a:p>
          <a:p>
            <a:pPr>
              <a:defRPr sz="1800">
                <a:latin typeface="Calibri"/>
              </a:defRPr>
            </a:pPr>
            <a:endParaRPr dirty="0"/>
          </a:p>
          <a:p>
            <a:pPr>
              <a:defRPr sz="1800">
                <a:latin typeface="Calibri"/>
              </a:defRPr>
            </a:pPr>
            <a:r>
              <a:rPr dirty="0"/>
              <a:t>Verdict: Worth the time investment! 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numCol="2">
            <a:normAutofit/>
          </a:bodyPr>
          <a:lstStyle/>
          <a:p>
            <a:pPr>
              <a:defRPr sz="1800">
                <a:latin typeface="Calibri"/>
              </a:defRPr>
            </a:pPr>
            <a:r>
              <a:rPr dirty="0"/>
              <a:t>From Mocked to </a:t>
            </a:r>
            <a:r>
              <a:rPr dirty="0" err="1"/>
              <a:t>Testcontainers</a:t>
            </a:r>
            <a:r>
              <a:rPr dirty="0"/>
              <a:t>:</a:t>
            </a:r>
          </a:p>
          <a:p>
            <a:pPr>
              <a:defRPr sz="1800">
                <a:latin typeface="Calibri"/>
              </a:defRPr>
            </a:pPr>
            <a:endParaRPr dirty="0"/>
          </a:p>
          <a:p>
            <a:pPr>
              <a:defRPr sz="1800">
                <a:latin typeface="Calibri"/>
              </a:defRPr>
            </a:pPr>
            <a:r>
              <a:rPr dirty="0"/>
              <a:t>Step 1: Identify Critical Tests</a:t>
            </a:r>
          </a:p>
          <a:p>
            <a:pPr>
              <a:defRPr sz="1800">
                <a:latin typeface="Calibri"/>
              </a:defRPr>
            </a:pPr>
            <a:r>
              <a:rPr dirty="0"/>
              <a:t>  • List database-dependent features</a:t>
            </a:r>
          </a:p>
          <a:p>
            <a:pPr>
              <a:defRPr sz="1800">
                <a:latin typeface="Calibri"/>
              </a:defRPr>
            </a:pPr>
            <a:r>
              <a:rPr dirty="0"/>
              <a:t>  • Prioritize business-critical paths</a:t>
            </a:r>
          </a:p>
          <a:p>
            <a:pPr>
              <a:defRPr sz="1800">
                <a:latin typeface="Calibri"/>
              </a:defRPr>
            </a:pPr>
            <a:r>
              <a:rPr dirty="0"/>
              <a:t>  • Identify performance-sensitive queries</a:t>
            </a:r>
          </a:p>
          <a:p>
            <a:pPr>
              <a:defRPr sz="1800">
                <a:latin typeface="Calibri"/>
              </a:defRPr>
            </a:pPr>
            <a:endParaRPr dirty="0"/>
          </a:p>
          <a:p>
            <a:pPr>
              <a:defRPr sz="1800">
                <a:latin typeface="Calibri"/>
              </a:defRPr>
            </a:pPr>
            <a:r>
              <a:rPr dirty="0"/>
              <a:t>Step 2: Add </a:t>
            </a:r>
            <a:r>
              <a:rPr dirty="0" err="1"/>
              <a:t>Testcontainers</a:t>
            </a:r>
            <a:r>
              <a:rPr dirty="0"/>
              <a:t> Setup</a:t>
            </a:r>
          </a:p>
          <a:p>
            <a:pPr>
              <a:defRPr sz="1800">
                <a:latin typeface="Calibri"/>
              </a:defRPr>
            </a:pPr>
            <a:r>
              <a:rPr dirty="0"/>
              <a:t>  • @SpringBootTest</a:t>
            </a:r>
          </a:p>
          <a:p>
            <a:pPr>
              <a:defRPr sz="1800">
                <a:latin typeface="Calibri"/>
              </a:defRPr>
            </a:pPr>
            <a:r>
              <a:rPr dirty="0"/>
              <a:t>  • @ContextConfiguration with Initializer</a:t>
            </a:r>
          </a:p>
          <a:p>
            <a:pPr>
              <a:defRPr sz="1800">
                <a:latin typeface="Calibri"/>
              </a:defRPr>
            </a:pPr>
            <a:r>
              <a:rPr dirty="0"/>
              <a:t>  • @ActiveProfiles('integration-tests')</a:t>
            </a:r>
          </a:p>
          <a:p>
            <a:pPr>
              <a:defRPr sz="1800">
                <a:latin typeface="Calibri"/>
              </a:defRPr>
            </a:pPr>
            <a:endParaRPr dirty="0"/>
          </a:p>
          <a:p>
            <a:pPr>
              <a:defRPr sz="1800">
                <a:latin typeface="Calibri"/>
              </a:defRPr>
            </a:pPr>
            <a:r>
              <a:rPr dirty="0"/>
              <a:t>Step 3: Migrate Tests Gradually</a:t>
            </a:r>
          </a:p>
          <a:p>
            <a:pPr>
              <a:defRPr sz="1800">
                <a:latin typeface="Calibri"/>
              </a:defRPr>
            </a:pPr>
            <a:r>
              <a:rPr dirty="0"/>
              <a:t>  • Start with one service/feature</a:t>
            </a:r>
          </a:p>
          <a:p>
            <a:pPr>
              <a:defRPr sz="1800">
                <a:latin typeface="Calibri"/>
              </a:defRPr>
            </a:pPr>
            <a:r>
              <a:rPr dirty="0"/>
              <a:t>  • Keep mocked tests for pure logic</a:t>
            </a:r>
          </a:p>
          <a:p>
            <a:pPr>
              <a:defRPr sz="1800">
                <a:latin typeface="Calibri"/>
              </a:defRPr>
            </a:pPr>
            <a:r>
              <a:rPr dirty="0"/>
              <a:t>  • Add integration tests for DB features</a:t>
            </a:r>
          </a:p>
          <a:p>
            <a:pPr marL="0" indent="0">
              <a:buNone/>
              <a:defRPr sz="1800">
                <a:latin typeface="Calibri"/>
              </a:defRPr>
            </a:pPr>
            <a:endParaRPr lang="en-GB" dirty="0"/>
          </a:p>
          <a:p>
            <a:pPr marL="0" indent="0">
              <a:buNone/>
              <a:defRPr sz="1800">
                <a:latin typeface="Calibri"/>
              </a:defRPr>
            </a:pPr>
            <a:endParaRPr dirty="0"/>
          </a:p>
          <a:p>
            <a:pPr>
              <a:defRPr sz="1800">
                <a:latin typeface="Calibri"/>
              </a:defRPr>
            </a:pPr>
            <a:r>
              <a:rPr dirty="0"/>
              <a:t>Step 4: Run Both in CI/CD</a:t>
            </a:r>
          </a:p>
          <a:p>
            <a:pPr>
              <a:defRPr sz="1800">
                <a:latin typeface="Calibri"/>
              </a:defRPr>
            </a:pPr>
            <a:r>
              <a:rPr dirty="0"/>
              <a:t>  • Unit tests: Fast feedback</a:t>
            </a:r>
          </a:p>
          <a:p>
            <a:pPr>
              <a:defRPr sz="1800">
                <a:latin typeface="Calibri"/>
              </a:defRPr>
            </a:pPr>
            <a:r>
              <a:rPr dirty="0"/>
              <a:t>  • Integration tests: Real validation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numCol="2">
            <a:normAutofit/>
          </a:bodyPr>
          <a:lstStyle/>
          <a:p>
            <a:pPr>
              <a:defRPr sz="1800">
                <a:latin typeface="Calibri"/>
              </a:defRPr>
            </a:pPr>
            <a:r>
              <a:rPr dirty="0"/>
              <a:t>Key Takeaways:</a:t>
            </a:r>
          </a:p>
          <a:p>
            <a:pPr>
              <a:defRPr sz="1800">
                <a:latin typeface="Calibri"/>
              </a:defRPr>
            </a:pPr>
            <a:endParaRPr dirty="0"/>
          </a:p>
          <a:p>
            <a:pPr>
              <a:defRPr sz="1800">
                <a:latin typeface="Calibri"/>
              </a:defRPr>
            </a:pPr>
            <a:r>
              <a:rPr dirty="0"/>
              <a:t>1. Database = Critical Component 🎯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Business rules enforced by DB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Don't mock it!</a:t>
            </a:r>
          </a:p>
          <a:p>
            <a:pPr>
              <a:defRPr sz="1800">
                <a:latin typeface="Calibri"/>
              </a:defRPr>
            </a:pPr>
            <a:endParaRPr dirty="0"/>
          </a:p>
          <a:p>
            <a:pPr>
              <a:defRPr sz="1800">
                <a:latin typeface="Calibri"/>
              </a:defRPr>
            </a:pPr>
            <a:r>
              <a:rPr dirty="0"/>
              <a:t>2. </a:t>
            </a:r>
            <a:r>
              <a:rPr dirty="0" err="1"/>
              <a:t>Testcontainers</a:t>
            </a:r>
            <a:r>
              <a:rPr dirty="0"/>
              <a:t> = Real Testing ✅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Validates actual behavior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Catches production issues early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Worth the slight performance cost</a:t>
            </a:r>
          </a:p>
          <a:p>
            <a:pPr>
              <a:defRPr sz="1800">
                <a:latin typeface="Calibri"/>
              </a:defRPr>
            </a:pPr>
            <a:endParaRPr lang="en-GB" dirty="0"/>
          </a:p>
          <a:p>
            <a:pPr>
              <a:defRPr sz="1800">
                <a:latin typeface="Calibri"/>
              </a:defRPr>
            </a:pPr>
            <a:endParaRPr lang="en-GB" dirty="0"/>
          </a:p>
          <a:p>
            <a:pPr marL="0" indent="0">
              <a:buNone/>
              <a:defRPr sz="1800">
                <a:latin typeface="Calibri"/>
              </a:defRPr>
            </a:pPr>
            <a:endParaRPr dirty="0"/>
          </a:p>
          <a:p>
            <a:pPr>
              <a:defRPr sz="1800">
                <a:latin typeface="Calibri"/>
              </a:defRPr>
            </a:pPr>
            <a:r>
              <a:rPr dirty="0"/>
              <a:t>3. Balance is Key ⚖️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Unit tests for pure logic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Integration tests for DB features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Both have their place!</a:t>
            </a:r>
          </a:p>
          <a:p>
            <a:pPr>
              <a:defRPr sz="1800">
                <a:latin typeface="Calibri"/>
              </a:defRPr>
            </a:pPr>
            <a:endParaRPr dirty="0"/>
          </a:p>
          <a:p>
            <a:pPr>
              <a:defRPr sz="1800">
                <a:latin typeface="Calibri"/>
              </a:defRPr>
            </a:pPr>
            <a:r>
              <a:rPr dirty="0"/>
              <a:t>4. Real-World Impact 💼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Prevents production bugs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Validates business rules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Builds deployment confidence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numCol="2">
            <a:normAutofit/>
          </a:bodyPr>
          <a:lstStyle/>
          <a:p>
            <a:pPr>
              <a:defRPr sz="1800">
                <a:latin typeface="Calibri"/>
              </a:defRPr>
            </a:pPr>
            <a:r>
              <a:rPr dirty="0"/>
              <a:t>Common Questions:</a:t>
            </a:r>
          </a:p>
          <a:p>
            <a:pPr>
              <a:defRPr sz="1800">
                <a:latin typeface="Calibri"/>
              </a:defRPr>
            </a:pPr>
            <a:r>
              <a:rPr dirty="0"/>
              <a:t>Q: Aren't </a:t>
            </a:r>
            <a:r>
              <a:rPr dirty="0" err="1"/>
              <a:t>Testcontainers</a:t>
            </a:r>
            <a:r>
              <a:rPr dirty="0"/>
              <a:t> slow?</a:t>
            </a:r>
          </a:p>
          <a:p>
            <a:pPr>
              <a:defRPr sz="1800">
                <a:latin typeface="Calibri"/>
              </a:defRPr>
            </a:pPr>
            <a:r>
              <a:rPr dirty="0"/>
              <a:t>A: Slightly slower, but catching real bugs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outweighs the cost.</a:t>
            </a:r>
          </a:p>
          <a:p>
            <a:pPr>
              <a:defRPr sz="1800">
                <a:latin typeface="Calibri"/>
              </a:defRPr>
            </a:pPr>
            <a:endParaRPr dirty="0"/>
          </a:p>
          <a:p>
            <a:pPr>
              <a:defRPr sz="1800">
                <a:latin typeface="Calibri"/>
              </a:defRPr>
            </a:pPr>
            <a:r>
              <a:rPr dirty="0"/>
              <a:t>Q: Should I replace ALL unit tests?</a:t>
            </a:r>
          </a:p>
          <a:p>
            <a:pPr>
              <a:defRPr sz="1800">
                <a:latin typeface="Calibri"/>
              </a:defRPr>
            </a:pPr>
            <a:r>
              <a:rPr dirty="0"/>
              <a:t>A: No! Use unit tests for pure logic,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integration tests for DB features.</a:t>
            </a:r>
          </a:p>
          <a:p>
            <a:pPr>
              <a:defRPr sz="1800">
                <a:latin typeface="Calibri"/>
              </a:defRPr>
            </a:pPr>
            <a:endParaRPr dirty="0"/>
          </a:p>
          <a:p>
            <a:pPr>
              <a:defRPr sz="1800">
                <a:latin typeface="Calibri"/>
              </a:defRPr>
            </a:pPr>
            <a:r>
              <a:rPr dirty="0"/>
              <a:t>Q: What about test data management?</a:t>
            </a:r>
          </a:p>
          <a:p>
            <a:pPr>
              <a:defRPr sz="1800">
                <a:latin typeface="Calibri"/>
              </a:defRPr>
            </a:pPr>
            <a:r>
              <a:rPr dirty="0"/>
              <a:t>A: Use @Sql scripts and transaction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rollback for isolation.</a:t>
            </a:r>
          </a:p>
          <a:p>
            <a:pPr>
              <a:defRPr sz="1800">
                <a:latin typeface="Calibri"/>
              </a:defRPr>
            </a:pPr>
            <a:endParaRPr dirty="0"/>
          </a:p>
          <a:p>
            <a:pPr>
              <a:defRPr sz="1800">
                <a:latin typeface="Calibri"/>
              </a:defRPr>
            </a:pPr>
            <a:r>
              <a:rPr dirty="0"/>
              <a:t>Q: Can I use </a:t>
            </a:r>
            <a:r>
              <a:rPr dirty="0" err="1"/>
              <a:t>Testcontainers</a:t>
            </a:r>
            <a:r>
              <a:rPr dirty="0"/>
              <a:t> in CI/CD?</a:t>
            </a:r>
          </a:p>
          <a:p>
            <a:pPr>
              <a:defRPr sz="1800">
                <a:latin typeface="Calibri"/>
              </a:defRPr>
            </a:pPr>
            <a:r>
              <a:rPr dirty="0"/>
              <a:t>A: Yes! Docker is available in most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CI environments.</a:t>
            </a:r>
          </a:p>
          <a:p>
            <a:pPr>
              <a:defRPr sz="1800">
                <a:latin typeface="Calibri"/>
              </a:defRPr>
            </a:pPr>
            <a:endParaRPr dirty="0"/>
          </a:p>
          <a:p>
            <a:pPr>
              <a:defRPr sz="1800">
                <a:latin typeface="Calibri"/>
              </a:defRPr>
            </a:pPr>
            <a:r>
              <a:rPr dirty="0"/>
              <a:t>Q: What if Docker isn't available?</a:t>
            </a:r>
          </a:p>
          <a:p>
            <a:pPr>
              <a:defRPr sz="1800">
                <a:latin typeface="Calibri"/>
              </a:defRPr>
            </a:pPr>
            <a:r>
              <a:rPr dirty="0"/>
              <a:t>A: Use mocks for unit tests, but try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to get Docker for integration tests.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43</TotalTime>
  <Words>950</Words>
  <Application>Microsoft Office PowerPoint</Application>
  <PresentationFormat>On-screen Show (4:3)</PresentationFormat>
  <Paragraphs>221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Corbel</vt:lpstr>
      <vt:lpstr>Depth</vt:lpstr>
      <vt:lpstr>Testcontainers vs JUnit-Only</vt:lpstr>
      <vt:lpstr>What Are Testcontainers?</vt:lpstr>
      <vt:lpstr>PowerPoint Presentation</vt:lpstr>
      <vt:lpstr>Key Advantages of Testcontainers</vt:lpstr>
      <vt:lpstr>PowerPoint Presentation</vt:lpstr>
      <vt:lpstr>Database: The Most Critical Component</vt:lpstr>
      <vt:lpstr>PowerPoint Presentation</vt:lpstr>
      <vt:lpstr>Performance Comparison</vt:lpstr>
      <vt:lpstr>Migration Strategy</vt:lpstr>
      <vt:lpstr>Conclusion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Henrique Pereira Rosa</cp:lastModifiedBy>
  <cp:revision>2</cp:revision>
  <dcterms:created xsi:type="dcterms:W3CDTF">2013-01-27T09:14:16Z</dcterms:created>
  <dcterms:modified xsi:type="dcterms:W3CDTF">2025-11-03T23:29:03Z</dcterms:modified>
  <cp:category/>
</cp:coreProperties>
</file>